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5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F3D"/>
                </a:solidFill>
                <a:latin typeface="Calibri"/>
              </a:rPr>
              <a:t>Keon — Outil de gestion des demandes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Vue d'ensemble de l'application et focus sur le flux Bureau d'Études (BE)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074920" cy="5257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5FF0"/>
                </a:solidFill>
                <a:latin typeface="Calibri"/>
              </a:rPr>
              <a:t>Vue d'ensemble de l'app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Plateforme React/TS + Supabase qui centralise les demandes inter-services (formulaire, dispatch, suivi, validation, clôture) et regroupe les indicateurs par module et par projet.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F3D"/>
                </a:solidFill>
                <a:latin typeface="Calibri"/>
              </a:rPr>
              <a:t>Modules métier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22174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172968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18104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F3D"/>
                </a:solidFill>
                <a:latin typeface="Calibri"/>
              </a:rPr>
              <a:t>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0128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Bureau d'études — prestations projet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31820" y="3063240"/>
            <a:ext cx="22174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3260" y="3172968"/>
            <a:ext cx="292608" cy="292608"/>
          </a:xfrm>
          <a:prstGeom prst="ellipse">
            <a:avLst/>
          </a:prstGeom>
          <a:solidFill>
            <a:srgbClr val="2C5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9020" y="3118104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F3D"/>
                </a:solidFill>
                <a:latin typeface="Calibri"/>
              </a:rPr>
              <a:t>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9020" y="3310128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Tickets support &amp; projets digitaux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22174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376732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712464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F3D"/>
                </a:solidFill>
                <a:latin typeface="Calibri"/>
              </a:rPr>
              <a:t>Logistique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904488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Achats, devis, demandes matériel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31820" y="3657600"/>
            <a:ext cx="22174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23260" y="3767328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9020" y="3712464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F3D"/>
                </a:solidFill>
                <a:latin typeface="Calibri"/>
              </a:rPr>
              <a:t>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3904488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Interventions services généraux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22174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4361688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306824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F3D"/>
                </a:solidFill>
                <a:latin typeface="Calibri"/>
              </a:rPr>
              <a:t>SMQ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498848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Non-conformités qualité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31820" y="4251960"/>
            <a:ext cx="22174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23260" y="4361688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9020" y="4306824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F3D"/>
                </a:solidFill>
                <a:latin typeface="Calibri"/>
              </a:rPr>
              <a:t>Innovation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9020" y="4498848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Idées &amp; projets R&amp;D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74919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F3D"/>
                </a:solidFill>
                <a:latin typeface="Calibri"/>
              </a:rPr>
              <a:t>Principes communs à tous les modules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2C5FF0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Formulaire de demande typé par module + pièces jointes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2C5FF0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Dispatch manager : affectation et réaffectation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2C5FF0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Cycle de vie statuté, validations N1/N2, notifications in-app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2C5FF0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Permissions par profil (demandeur / exécutant / manager / admin)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2C5FF0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Dashboards : KPIs, filtres, charge de travail, retards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1325880"/>
            <a:ext cx="5943600" cy="5257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149047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28D9"/>
                </a:solidFill>
                <a:latin typeface="Calibri"/>
              </a:rPr>
              <a:t>Focus — Flux Bureau d'Études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F3D"/>
                </a:solidFill>
                <a:latin typeface="Calibri"/>
              </a:rPr>
              <a:t>Acteurs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219456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D28D9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Demandeur : commercial / chef de projet (Florence, Marion…)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6D28D9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Dispatch manager BE : Germain — affecte les prestations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6D28D9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Projeteur : exécute la prestation (ex. Guillaume Moriceau)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6D28D9"/>
                </a:solidFill>
                <a:latin typeface="Calibri"/>
              </a:rPr>
              <a:t>■  </a:t>
            </a:r>
            <a:r>
              <a:rPr sz="950">
                <a:solidFill>
                  <a:srgbClr val="1E293B"/>
                </a:solidFill>
                <a:latin typeface="Calibri"/>
              </a:rPr>
              <a:t>Validateur : relit puis valide avant dépôt client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3246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F3D"/>
                </a:solidFill>
                <a:latin typeface="Calibri"/>
              </a:rPr>
              <a:t>Hub projet BE (regroupement par dossier ALIX)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9320" y="3538728"/>
            <a:ext cx="84124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352958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D28D9"/>
                </a:solidFill>
                <a:latin typeface="Calibri"/>
              </a:rPr>
              <a:t>Fiche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3538728"/>
            <a:ext cx="84124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352958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D28D9"/>
                </a:solidFill>
                <a:latin typeface="Calibri"/>
              </a:rPr>
              <a:t>Timeline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3538728"/>
            <a:ext cx="84124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352958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D28D9"/>
                </a:solidFill>
                <a:latin typeface="Calibri"/>
              </a:rPr>
              <a:t>Budget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32520" y="3538728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352958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D28D9"/>
                </a:solidFill>
                <a:latin typeface="Calibri"/>
              </a:rPr>
              <a:t>Temps (Lucca)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11512" y="3538728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11512" y="352958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D28D9"/>
                </a:solidFill>
                <a:latin typeface="Calibri"/>
              </a:rPr>
              <a:t>Discussions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890504" y="3538728"/>
            <a:ext cx="841248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90504" y="352958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D28D9"/>
                </a:solidFill>
                <a:latin typeface="Calibri"/>
              </a:rPr>
              <a:t>Fichiers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804904" y="3538728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804904" y="352958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D28D9"/>
                </a:solidFill>
                <a:latin typeface="Calibri"/>
              </a:rPr>
              <a:t>Synthèse Keon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4023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F3D"/>
                </a:solidFill>
                <a:latin typeface="Calibri"/>
              </a:rPr>
              <a:t>Cycle de vie d'une prestation BE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89320" y="4343400"/>
            <a:ext cx="965606" cy="384048"/>
          </a:xfrm>
          <a:prstGeom prst="roundRect">
            <a:avLst>
              <a:gd name="adj" fmla="val 4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9320" y="4343400"/>
            <a:ext cx="9656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Soumise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6954926" y="443484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19518" y="4343400"/>
            <a:ext cx="965606" cy="384048"/>
          </a:xfrm>
          <a:prstGeom prst="roundRect">
            <a:avLst>
              <a:gd name="adj" fmla="val 4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19518" y="4343400"/>
            <a:ext cx="9656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Affectée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8085124" y="443484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49716" y="4343400"/>
            <a:ext cx="965606" cy="384048"/>
          </a:xfrm>
          <a:prstGeom prst="roundRect">
            <a:avLst>
              <a:gd name="adj" fmla="val 4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9716" y="4343400"/>
            <a:ext cx="9656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 cours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9215323" y="443484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379915" y="4343400"/>
            <a:ext cx="965606" cy="384048"/>
          </a:xfrm>
          <a:prstGeom prst="roundRect">
            <a:avLst>
              <a:gd name="adj" fmla="val 45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79915" y="4343400"/>
            <a:ext cx="9656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À relire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10345521" y="443484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510113" y="4343400"/>
            <a:ext cx="965606" cy="384048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10113" y="4343400"/>
            <a:ext cx="9656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À valider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89320" y="4818888"/>
            <a:ext cx="973836" cy="384048"/>
          </a:xfrm>
          <a:prstGeom prst="roundRect">
            <a:avLst>
              <a:gd name="adj" fmla="val 4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89320" y="4818888"/>
            <a:ext cx="9738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À déposer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6963156" y="4910328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127748" y="4818888"/>
            <a:ext cx="973836" cy="384048"/>
          </a:xfrm>
          <a:prstGeom prst="roundRect">
            <a:avLst>
              <a:gd name="adj" fmla="val 4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27748" y="4818888"/>
            <a:ext cx="9738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 instruction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8101584" y="4910328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66176" y="4818888"/>
            <a:ext cx="973836" cy="384048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66176" y="4818888"/>
            <a:ext cx="9738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Compl. demandé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9240012" y="4910328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404604" y="4818888"/>
            <a:ext cx="973836" cy="384048"/>
          </a:xfrm>
          <a:prstGeom prst="roundRect">
            <a:avLst>
              <a:gd name="adj" fmla="val 4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04604" y="4818888"/>
            <a:ext cx="9738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Clôturée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89320" y="524865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Transitions auto (assignation, soumission) + manuelles via BEStatusBadge — notifications in-app à chaque étape clé.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89320" y="5852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F3D"/>
                </a:solidFill>
                <a:latin typeface="Calibri"/>
              </a:rPr>
              <a:t>Intégrations BE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89320" y="6126480"/>
            <a:ext cx="176784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80760" y="6163056"/>
            <a:ext cx="158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F1F3D"/>
                </a:solidFill>
                <a:latin typeface="Calibri"/>
              </a:rPr>
              <a:t>Lucca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80760" y="6318504"/>
            <a:ext cx="158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Temps RH par affaire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848600" y="6126480"/>
            <a:ext cx="176784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40040" y="6163056"/>
            <a:ext cx="158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F1F3D"/>
                </a:solidFill>
                <a:latin typeface="Calibri"/>
              </a:rPr>
              <a:t>Divalto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40040" y="6318504"/>
            <a:ext cx="158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Budget &amp; mouvements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707880" y="6126480"/>
            <a:ext cx="176784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9320" y="6163056"/>
            <a:ext cx="158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F1F3D"/>
                </a:solidFill>
                <a:latin typeface="Calibri"/>
              </a:rPr>
              <a:t>ALIX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99320" y="6318504"/>
            <a:ext cx="158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Code projet / dossier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Stack : React 18 · TypeScript · Vite · Tailwind · shadcn-ui · Supabase (Postgres + RLS + Realtime)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