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C5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1F3D"/>
                </a:solidFill>
                <a:latin typeface="Calibri"/>
              </a:rPr>
              <a:t>Keon — Outil de gestion des demandes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Vue d'ensemble de l'application et focus sur le flux Bureau d'Études (BE)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074920" cy="5257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C5FF0"/>
                </a:solidFill>
                <a:latin typeface="Calibri"/>
              </a:rPr>
              <a:t>Vue d'ensemble de l'app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Plateforme React/TS + Supabase qui centralise les demandes inter-services (formulaire, dispatch, suivi, validation, clôture) et regroupe les indicateurs par module et par projet.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Modules métier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63240"/>
            <a:ext cx="22174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3172968"/>
            <a:ext cx="292608" cy="29260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118104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10128"/>
            <a:ext cx="17145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Bureau d'études — prestations projet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31820" y="3063240"/>
            <a:ext cx="22174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23260" y="3172968"/>
            <a:ext cx="292608" cy="292608"/>
          </a:xfrm>
          <a:prstGeom prst="ellipse">
            <a:avLst/>
          </a:prstGeom>
          <a:solidFill>
            <a:srgbClr val="2C5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9020" y="3118104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9020" y="3310128"/>
            <a:ext cx="17145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Tickets support &amp; projets digitaux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657600"/>
            <a:ext cx="22174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" y="3767328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12464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Logistique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04488"/>
            <a:ext cx="17145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Achats, devis, demandes matériel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31820" y="3657600"/>
            <a:ext cx="22174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223260" y="376732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9020" y="3712464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Maintenance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9020" y="3904488"/>
            <a:ext cx="17145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Interventions services généraux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251960"/>
            <a:ext cx="22174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2960" y="4361688"/>
            <a:ext cx="292608" cy="292608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306824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SMQ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498848"/>
            <a:ext cx="17145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Non-conformités qualité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31820" y="4251960"/>
            <a:ext cx="22174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223260" y="4361688"/>
            <a:ext cx="292608" cy="292608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9020" y="4306824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1F3D"/>
                </a:solidFill>
                <a:latin typeface="Calibri"/>
              </a:rPr>
              <a:t>Innovation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9020" y="4498848"/>
            <a:ext cx="17145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Idées &amp; projets R&amp;D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074919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Principes communs à tous les modules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49240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2C5FF0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Formulaire de demande typé par module + pièces jointes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2C5FF0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Dispatch manager : affectation et réaffectation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2C5FF0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Cycle de vie statuté, validations N1/N2, notifications in-app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2C5FF0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Permissions par profil (demandeur / exécutant / manager / admin)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2C5FF0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Dashboards : KPIs, filtres, charge de travail, retards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0" y="1325880"/>
            <a:ext cx="5943600" cy="5257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149047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D28D9"/>
                </a:solidFill>
                <a:latin typeface="Calibri"/>
              </a:rPr>
              <a:t>Focus — Flux Bureau d'Études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Acteurs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219456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D28D9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Demandeur : commercial / chef de projet (Florence, Marion…)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6D28D9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Dispatch manager BE : Germain — affecte les prestations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6D28D9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Projeteur : exécute la prestation (ex. Guillaume Moriceau)</a:t>
            </a:r>
          </a:p>
          <a:p>
            <a:pPr algn="l">
              <a:lnSpc>
                <a:spcPct val="115000"/>
              </a:lnSpc>
            </a:pPr>
            <a:r>
              <a:rPr sz="950">
                <a:solidFill>
                  <a:srgbClr val="6D28D9"/>
                </a:solidFill>
                <a:latin typeface="Calibri"/>
              </a:rPr>
              <a:t>■  </a:t>
            </a:r>
            <a:r>
              <a:rPr sz="950">
                <a:solidFill>
                  <a:srgbClr val="1E293B"/>
                </a:solidFill>
                <a:latin typeface="Calibri"/>
              </a:rPr>
              <a:t>Validateur : relit puis valide avant dépôt client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3246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Hub projet BE (regroupement par dossier ALIX)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89320" y="3538728"/>
            <a:ext cx="841248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89320" y="3529584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Fiche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3538728"/>
            <a:ext cx="841248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03720" y="3529584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Timeline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3538728"/>
            <a:ext cx="841248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18120" y="3529584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Budget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32520" y="3538728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32520" y="35295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Temps (Lucca)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11512" y="3538728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11512" y="35295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Discussions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890504" y="3538728"/>
            <a:ext cx="841248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90504" y="3529584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Fichiers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804904" y="3538728"/>
            <a:ext cx="841248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804904" y="3529584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Synthèse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9320" y="4023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Cycle de vie d'une prestation 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89320" y="4343400"/>
            <a:ext cx="965606" cy="384048"/>
          </a:xfrm>
          <a:prstGeom prst="roundRect">
            <a:avLst>
              <a:gd name="adj" fmla="val 45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4343400"/>
            <a:ext cx="96560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Soumise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6954926" y="4434840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119518" y="4343400"/>
            <a:ext cx="965606" cy="384048"/>
          </a:xfrm>
          <a:prstGeom prst="roundRect">
            <a:avLst>
              <a:gd name="adj" fmla="val 45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9518" y="4343400"/>
            <a:ext cx="96560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Affectée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8085124" y="4434840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249716" y="4343400"/>
            <a:ext cx="965606" cy="384048"/>
          </a:xfrm>
          <a:prstGeom prst="roundRect">
            <a:avLst>
              <a:gd name="adj" fmla="val 4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49716" y="4343400"/>
            <a:ext cx="96560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 cours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9215323" y="4434840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379915" y="4343400"/>
            <a:ext cx="965606" cy="384048"/>
          </a:xfrm>
          <a:prstGeom prst="roundRect">
            <a:avLst>
              <a:gd name="adj" fmla="val 45000"/>
            </a:avLst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79915" y="4343400"/>
            <a:ext cx="96560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À relire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0345521" y="4434840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510113" y="4343400"/>
            <a:ext cx="965606" cy="384048"/>
          </a:xfrm>
          <a:prstGeom prst="roundRect">
            <a:avLst>
              <a:gd name="adj" fmla="val 4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10113" y="4343400"/>
            <a:ext cx="96560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À valider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989320" y="4818888"/>
            <a:ext cx="973836" cy="384048"/>
          </a:xfrm>
          <a:prstGeom prst="roundRect">
            <a:avLst>
              <a:gd name="adj" fmla="val 4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89320" y="4818888"/>
            <a:ext cx="9738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À déposer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6963156" y="4910328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127748" y="4818888"/>
            <a:ext cx="973836" cy="384048"/>
          </a:xfrm>
          <a:prstGeom prst="roundRect">
            <a:avLst>
              <a:gd name="adj" fmla="val 45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27748" y="4818888"/>
            <a:ext cx="9738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 instruction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8101584" y="4910328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266176" y="4818888"/>
            <a:ext cx="973836" cy="384048"/>
          </a:xfrm>
          <a:prstGeom prst="roundRect">
            <a:avLst>
              <a:gd name="adj" fmla="val 4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66176" y="4818888"/>
            <a:ext cx="9738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Compl. demandé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9240012" y="4910328"/>
            <a:ext cx="164592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404604" y="4818888"/>
            <a:ext cx="973836" cy="384048"/>
          </a:xfrm>
          <a:prstGeom prst="roundRect">
            <a:avLst>
              <a:gd name="adj" fmla="val 45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04604" y="4818888"/>
            <a:ext cx="9738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Clôturée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524865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Transitions auto (assignation, soumission) + manuelles via BEStatusBadge — notifications in-app à chaque étape clé.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89320" y="5852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Intégrations BE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89320" y="6126480"/>
            <a:ext cx="176784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080760" y="6163056"/>
            <a:ext cx="158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1F3D"/>
                </a:solidFill>
                <a:latin typeface="Calibri"/>
              </a:rPr>
              <a:t>Lucca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80760" y="6318504"/>
            <a:ext cx="158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Temps RH par affaire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48600" y="6126480"/>
            <a:ext cx="176784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940040" y="6163056"/>
            <a:ext cx="158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1F3D"/>
                </a:solidFill>
                <a:latin typeface="Calibri"/>
              </a:rPr>
              <a:t>Divalto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40040" y="6318504"/>
            <a:ext cx="158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Budget &amp; mouvements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707880" y="6126480"/>
            <a:ext cx="176784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799320" y="6163056"/>
            <a:ext cx="158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F1F3D"/>
                </a:solidFill>
                <a:latin typeface="Calibri"/>
              </a:rPr>
              <a:t>ALIX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99320" y="6318504"/>
            <a:ext cx="1584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Code projet / dossier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Stack : React 18 · TypeScript · Vite · Tailwind · shadcn-ui · Supabase (Postgres + RLS + Realtime)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1F3D"/>
                </a:solidFill>
                <a:latin typeface="Calibri"/>
              </a:rPr>
              <a:t>Flux BE — Catalogue des prestations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12 familles livrables par le Bureau d'Études, déclenchées via les sub-process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ICPE Déclaration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Dossier · plans · dépôt · preuve · complétude · purge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4418" y="1417320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4418" y="1417320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298" y="1691640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ICPE Enregistrement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298" y="2148840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Dossier · CODERST · arrêté · affichage parcelle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1417320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5916" y="1417320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1691640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ICPE Autorisation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148840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Réalisation · validation · envoi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7414" y="1417320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7414" y="1417320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0294" y="1691640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Permis de construire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0294" y="2148840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Plans PC · dossier · dépôt · arrêté · affichage · purge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980944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980944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255264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Agrément sanitaire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12464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Dossier · 2 visites · agrément provisoire puis définitif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44418" y="2980944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44418" y="2980944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7298" y="3255264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Plan d'Assurance 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298" y="3712464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Réalisation · validation · envoi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5916" y="2980944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85916" y="2980944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8796" y="3255264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Plan règlementaire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8796" y="3712464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Réalisation · validation · envoi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7414" y="2980944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27414" y="2980944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10294" y="3255264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Dossier de subvention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10294" y="3712464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Constitution · dépôt · suivi instruction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544568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4544568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818888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Audit process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276088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Audit terrain process industriel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44418" y="4544568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44418" y="4544568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7298" y="4818888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Dimensionnement hors offre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298" y="5276088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Étude technique ponctuelle hors devis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85916" y="4544568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85916" y="4544568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8796" y="4818888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Offres commerciales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68796" y="5276088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Chiffrage · rédaction offre · envoi client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7414" y="4544568"/>
            <a:ext cx="2676906" cy="1399032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27414" y="4544568"/>
            <a:ext cx="2676906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0294" y="4818888"/>
            <a:ext cx="231114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F3D"/>
                </a:solidFill>
                <a:latin typeface="Calibri"/>
              </a:rPr>
              <a:t>Autre étude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10294" y="5276088"/>
            <a:ext cx="2311146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Prestations spécifiques / sur-mesure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Chaque demande BE génère automatiquement les sous-tâches du process choisi · chaque sous-tâche suit le cycle de vie en 9 statuts (cf. slide 1).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Source : supabase/seed/001_be_sub_process_templates.sql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1F3D"/>
                </a:solidFill>
                <a:latin typeface="Calibri"/>
              </a:rPr>
              <a:t>Flux BE — Diagramme de séquence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Parcours d'une prestation : Demandeur → Manager BE → Projeteur → Validateur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743200" cy="502920"/>
          </a:xfrm>
          <a:prstGeom prst="roundRect">
            <a:avLst>
              <a:gd name="adj" fmla="val 10000"/>
            </a:avLst>
          </a:prstGeom>
          <a:solidFill>
            <a:srgbClr val="0E7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Demandeur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Florence / Marion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2743200" cy="443484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743200" cy="502920"/>
          </a:xfrm>
          <a:prstGeom prst="roundRect">
            <a:avLst>
              <a:gd name="adj" fmla="val 1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3716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Manager 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645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Germain (dispatch)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20"/>
            <a:ext cx="2743200" cy="443484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371600"/>
            <a:ext cx="2743200" cy="50292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Projeteur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645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Guillaume Moriceau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74520"/>
            <a:ext cx="2743200" cy="443484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1371600"/>
            <a:ext cx="2743200" cy="50292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3716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645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Chef BE / pair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874520"/>
            <a:ext cx="2743200" cy="443484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210312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1031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1. Dépose la demande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(soumise)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74320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2743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2. Affecte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(affectée)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8328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3. Commence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(en cours)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402336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0440" y="4023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4. Relit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(à relire)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402336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5. Valide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(à valider)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466344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4663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6. Dépose dossier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(à déposer)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30352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3035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7. Instruction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(en instruction)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530352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53035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8. Compléments ?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(complément demandé)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6035040"/>
            <a:ext cx="2377440" cy="45720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035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9. Clôturée 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874520.0" y="2331720.0"/>
            <a:ext cx="2834640.0" cy="64008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697480" y="252374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soumet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709160.0" y="2971800.0"/>
            <a:ext cx="2834640.0" cy="64008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32120" y="316382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assigne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709160.0" y="3611880.0"/>
            <a:ext cx="2834640.0" cy="64008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532120" y="380390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soumet relecture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709160.0" y="4251960.0"/>
            <a:ext cx="5669280.0" cy="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949440" y="412394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transmet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4709160.0" y="4251960.0"/>
            <a:ext cx="5669280.0" cy="64008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949440" y="444398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validé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1874520.0" y="4892040.0"/>
            <a:ext cx="2834640.0" cy="64008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697480" y="508406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dépôt admin.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874520.0" y="5532120.0"/>
            <a:ext cx="5669280.0" cy="0.0"/>
          </a:xfrm>
          <a:prstGeom prst="line">
            <a:avLst/>
          </a:prstGeom>
          <a:ln w="19050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114800" y="540410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si compléments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1874520.0" y="5532120.0"/>
            <a:ext cx="5669280.0" cy="45720.0"/>
          </a:xfrm>
          <a:prstGeom prst="line">
            <a:avLst/>
          </a:prstGeom>
          <a:ln w="19050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114800" y="542696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redépôt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874520.0" y="5532120.0"/>
            <a:ext cx="0.0" cy="731520.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280160" y="5769864"/>
            <a:ext cx="1188720" cy="256032"/>
          </a:xfrm>
          <a:prstGeom prst="rect">
            <a:avLst/>
          </a:prstGeom>
          <a:noFill/>
        </p:spPr>
        <p:txBody>
          <a:bodyPr wrap="none" lIns="2" rIns="2" tIns="0" bIns="0">
            <a:spAutoFit/>
          </a:bodyPr>
          <a:lstStyle/>
          <a:p>
            <a:pPr algn="ctr"/>
            <a:r>
              <a:rPr sz="800" i="1">
                <a:solidFill>
                  <a:srgbClr val="1E293B"/>
                </a:solidFill>
                <a:latin typeface="Calibri"/>
              </a:rPr>
              <a:t>OK admin.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Notifications in-app automatiques aux étapes clés :  « à relire » → manager  ·  « à valider » → projeteur  ·  « clôturée » → demandeur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